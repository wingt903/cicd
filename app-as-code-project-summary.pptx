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2F5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96112"/>
          </a:xfrm>
          <a:prstGeom prst="rect">
            <a:avLst/>
          </a:prstGeom>
          <a:solidFill>
            <a:srgbClr val="0C1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896112"/>
            <a:ext cx="12188952" cy="41148"/>
          </a:xfrm>
          <a:prstGeom prst="rect">
            <a:avLst/>
          </a:prstGeom>
          <a:solidFill>
            <a:srgbClr val="E8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109728"/>
            <a:ext cx="50292" cy="676656"/>
          </a:xfrm>
          <a:prstGeom prst="rect">
            <a:avLst/>
          </a:prstGeom>
          <a:solidFill>
            <a:srgbClr val="E8A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1752" y="82296"/>
            <a:ext cx="6400800" cy="420624"/>
          </a:xfrm>
          <a:prstGeom prst="rect">
            <a:avLst/>
          </a:prstGeom>
          <a:noFill/>
        </p:spPr>
        <p:txBody>
          <a:bodyPr wrap="square">
            <a:spAutoFit/>
          </a:bodyPr>
          <a:lstStyle/>
          <a:p>
            <a:pPr algn="l"/>
            <a:r>
              <a:rPr sz="2200" b="1" i="0">
                <a:solidFill>
                  <a:srgbClr val="FFFFFF"/>
                </a:solidFill>
              </a:rPr>
              <a:t>App as Code — CI/CD Platform</a:t>
            </a:r>
          </a:p>
        </p:txBody>
      </p:sp>
      <p:sp>
        <p:nvSpPr>
          <p:cNvPr id="7" name="TextBox 6"/>
          <p:cNvSpPr txBox="1"/>
          <p:nvPr/>
        </p:nvSpPr>
        <p:spPr>
          <a:xfrm>
            <a:off x="301752" y="493776"/>
            <a:ext cx="6400800" cy="320040"/>
          </a:xfrm>
          <a:prstGeom prst="rect">
            <a:avLst/>
          </a:prstGeom>
          <a:noFill/>
        </p:spPr>
        <p:txBody>
          <a:bodyPr wrap="square">
            <a:spAutoFit/>
          </a:bodyPr>
          <a:lstStyle/>
          <a:p>
            <a:pPr algn="l"/>
            <a:r>
              <a:rPr sz="1050" b="0" i="1">
                <a:solidFill>
                  <a:srgbClr val="B0C8F0"/>
                </a:solidFill>
              </a:rPr>
              <a:t>Project Summary  |  Solution Architect Presentation</a:t>
            </a:r>
          </a:p>
        </p:txBody>
      </p:sp>
      <p:sp>
        <p:nvSpPr>
          <p:cNvPr id="8" name="TextBox 7"/>
          <p:cNvSpPr txBox="1"/>
          <p:nvPr/>
        </p:nvSpPr>
        <p:spPr>
          <a:xfrm>
            <a:off x="8138160" y="91440"/>
            <a:ext cx="3840480" cy="731520"/>
          </a:xfrm>
          <a:prstGeom prst="rect">
            <a:avLst/>
          </a:prstGeom>
          <a:noFill/>
        </p:spPr>
        <p:txBody>
          <a:bodyPr wrap="square">
            <a:spAutoFit/>
          </a:bodyPr>
          <a:lstStyle/>
          <a:p>
            <a:pPr algn="r"/>
            <a:r>
              <a:rPr sz="1000" b="1" i="0">
                <a:solidFill>
                  <a:srgbClr val="B0C8F0"/>
                </a:solidFill>
              </a:rPr>
              <a:t>Programme Project Review</a:t>
            </a:r>
          </a:p>
          <a:p>
            <a:pPr algn="r"/>
            <a:r>
              <a:rPr sz="850" b="0" i="0">
                <a:solidFill>
                  <a:srgbClr val="88AAD0"/>
                </a:solidFill>
              </a:rPr>
              <a:t>Platform Engineering Team</a:t>
            </a:r>
          </a:p>
          <a:p>
            <a:pPr algn="r"/>
            <a:r>
              <a:rPr sz="850" b="0" i="0">
                <a:solidFill>
                  <a:srgbClr val="88AAD0"/>
                </a:solidFill>
              </a:rPr>
              <a:t>June 2026</a:t>
            </a:r>
          </a:p>
        </p:txBody>
      </p:sp>
      <p:sp>
        <p:nvSpPr>
          <p:cNvPr id="9" name="Rectangle 8"/>
          <p:cNvSpPr/>
          <p:nvPr/>
        </p:nvSpPr>
        <p:spPr>
          <a:xfrm>
            <a:off x="146304" y="996696"/>
            <a:ext cx="3813048" cy="1847088"/>
          </a:xfrm>
          <a:prstGeom prst="rect">
            <a:avLst/>
          </a:prstGeom>
          <a:solidFill>
            <a:srgbClr val="FFFFFF"/>
          </a:solidFill>
          <a:ln w="6350">
            <a:solidFill>
              <a:srgbClr val="CC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46304" y="996696"/>
            <a:ext cx="3813048" cy="260603"/>
          </a:xfrm>
          <a:prstGeom prst="rect">
            <a:avLst/>
          </a:prstGeom>
          <a:solidFill>
            <a:srgbClr val="163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6032" y="1024128"/>
            <a:ext cx="3648456" cy="224027"/>
          </a:xfrm>
          <a:prstGeom prst="rect">
            <a:avLst/>
          </a:prstGeom>
          <a:noFill/>
        </p:spPr>
        <p:txBody>
          <a:bodyPr wrap="square">
            <a:spAutoFit/>
          </a:bodyPr>
          <a:lstStyle/>
          <a:p>
            <a:pPr algn="l"/>
            <a:r>
              <a:rPr sz="900" b="1" i="0">
                <a:solidFill>
                  <a:srgbClr val="FFFFFF"/>
                </a:solidFill>
              </a:rPr>
              <a:t>📌   Scope</a:t>
            </a:r>
          </a:p>
        </p:txBody>
      </p:sp>
      <p:sp>
        <p:nvSpPr>
          <p:cNvPr id="12" name="TextBox 11"/>
          <p:cNvSpPr txBox="1"/>
          <p:nvPr/>
        </p:nvSpPr>
        <p:spPr>
          <a:xfrm>
            <a:off x="274320" y="1312164"/>
            <a:ext cx="3593591" cy="1495044"/>
          </a:xfrm>
          <a:prstGeom prst="rect">
            <a:avLst/>
          </a:prstGeom>
          <a:noFill/>
        </p:spPr>
        <p:txBody>
          <a:bodyPr wrap="square">
            <a:spAutoFit/>
          </a:bodyPr>
          <a:lstStyle/>
          <a:p>
            <a:pPr algn="l"/>
            <a:r>
              <a:rPr sz="800" b="0" i="0">
                <a:solidFill>
                  <a:srgbClr val="1A1A2E"/>
                </a:solidFill>
              </a:rPr>
              <a:t>The App as Code project establishes a fully automated, policy-governed CI/CD platform for BA Opco application workloads migrating to AWS. The platform removes manual intervention from the deployment lifecycle and enforces compliance at every stage.</a:t>
            </a:r>
          </a:p>
          <a:p>
            <a:pPr algn="l"/>
            <a:r>
              <a:rPr sz="400" b="0" i="0">
                <a:solidFill>
                  <a:srgbClr val="1A1A2E"/>
                </a:solidFill>
              </a:rPr>
              <a:t/>
            </a:r>
          </a:p>
          <a:p>
            <a:pPr algn="l"/>
            <a:r>
              <a:rPr sz="800" b="1" i="0">
                <a:solidFill>
                  <a:srgbClr val="1A1A2E"/>
                </a:solidFill>
              </a:rPr>
              <a:t>What the platform delivers:</a:t>
            </a:r>
          </a:p>
          <a:p>
            <a:pPr algn="l"/>
            <a:r>
              <a:rPr sz="800" b="0" i="0">
                <a:solidFill>
                  <a:srgbClr val="1A1A2E"/>
                </a:solidFill>
              </a:rPr>
              <a:t>End-to-end pipeline automation from code commit through to production deployment, spanning build, security scanning, infrastructure provisioning, and environment promotion (dev → test → prod).</a:t>
            </a:r>
          </a:p>
          <a:p>
            <a:pPr algn="l"/>
            <a:r>
              <a:rPr sz="300" b="0" i="0">
                <a:solidFill>
                  <a:srgbClr val="1A1A2E"/>
                </a:solidFill>
              </a:rPr>
              <a:t/>
            </a:r>
          </a:p>
          <a:p>
            <a:pPr algn="l"/>
            <a:r>
              <a:rPr sz="800" b="0" i="0">
                <a:solidFill>
                  <a:srgbClr val="1A1A2E"/>
                </a:solidFill>
              </a:rPr>
              <a:t>Supported runtimes include Apache Tomcat, Python, and WebLogic (transitioning to Tomcat). Deployments are governed by a frozen architecture baseline (v1.0, June 2026) and a fully traceable Requirement Traceability Matrix.</a:t>
            </a:r>
          </a:p>
          <a:p>
            <a:pPr algn="l"/>
            <a:r>
              <a:rPr sz="300" b="0" i="0">
                <a:solidFill>
                  <a:srgbClr val="1A1A2E"/>
                </a:solidFill>
              </a:rPr>
              <a:t/>
            </a:r>
          </a:p>
          <a:p>
            <a:pPr algn="l"/>
            <a:r>
              <a:rPr sz="800" b="0" i="1">
                <a:solidFill>
                  <a:srgbClr val="3A4A6A"/>
                </a:solidFill>
              </a:rPr>
              <a:t>Phase 2 items: ServiceNow integration and detailed FR-04 evidence reporting are deferred for further clarification.</a:t>
            </a:r>
          </a:p>
        </p:txBody>
      </p:sp>
      <p:sp>
        <p:nvSpPr>
          <p:cNvPr id="13" name="Rectangle 12"/>
          <p:cNvSpPr/>
          <p:nvPr/>
        </p:nvSpPr>
        <p:spPr>
          <a:xfrm>
            <a:off x="4105656" y="996696"/>
            <a:ext cx="3813048" cy="1847088"/>
          </a:xfrm>
          <a:prstGeom prst="rect">
            <a:avLst/>
          </a:prstGeom>
          <a:solidFill>
            <a:srgbClr val="FFFFFF"/>
          </a:solidFill>
          <a:ln w="6350">
            <a:solidFill>
              <a:srgbClr val="CC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05656" y="996696"/>
            <a:ext cx="3813048" cy="260603"/>
          </a:xfrm>
          <a:prstGeom prst="rect">
            <a:avLst/>
          </a:prstGeom>
          <a:solidFill>
            <a:srgbClr val="163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15384" y="1024128"/>
            <a:ext cx="3648456" cy="224027"/>
          </a:xfrm>
          <a:prstGeom prst="rect">
            <a:avLst/>
          </a:prstGeom>
          <a:noFill/>
        </p:spPr>
        <p:txBody>
          <a:bodyPr wrap="square">
            <a:spAutoFit/>
          </a:bodyPr>
          <a:lstStyle/>
          <a:p>
            <a:pPr algn="l"/>
            <a:r>
              <a:rPr sz="900" b="1" i="0">
                <a:solidFill>
                  <a:srgbClr val="FFFFFF"/>
                </a:solidFill>
              </a:rPr>
              <a:t>📅   Project Plan</a:t>
            </a:r>
          </a:p>
        </p:txBody>
      </p:sp>
      <p:sp>
        <p:nvSpPr>
          <p:cNvPr id="16" name="TextBox 15"/>
          <p:cNvSpPr txBox="1"/>
          <p:nvPr/>
        </p:nvSpPr>
        <p:spPr>
          <a:xfrm>
            <a:off x="4233672" y="1312164"/>
            <a:ext cx="3593591" cy="1495044"/>
          </a:xfrm>
          <a:prstGeom prst="rect">
            <a:avLst/>
          </a:prstGeom>
          <a:noFill/>
        </p:spPr>
        <p:txBody>
          <a:bodyPr wrap="square">
            <a:spAutoFit/>
          </a:bodyPr>
          <a:lstStyle/>
          <a:p>
            <a:pPr algn="l"/>
            <a:r>
              <a:rPr sz="800" b="0" i="0">
                <a:solidFill>
                  <a:srgbClr val="1A1A2E"/>
                </a:solidFill>
              </a:rPr>
              <a:t>The architecture baseline was formally frozen in June 2026, with all component diagrams, the C4 model, and the Requirement Traceability Matrix fully completed and signed off.</a:t>
            </a:r>
          </a:p>
          <a:p>
            <a:pPr algn="l"/>
            <a:r>
              <a:rPr sz="300" b="0" i="0">
                <a:solidFill>
                  <a:srgbClr val="1A1A2E"/>
                </a:solidFill>
              </a:rPr>
              <a:t/>
            </a:r>
          </a:p>
          <a:p>
            <a:pPr algn="l"/>
            <a:r>
              <a:rPr sz="800" b="0" i="0">
                <a:solidFill>
                  <a:srgbClr val="1A1A2E"/>
                </a:solidFill>
              </a:rPr>
              <a:t>The CI/CD pipeline scaffold, Terraform infrastructure modules, and Ansible-based golden AMI build process are in place and ready for application onboarding.</a:t>
            </a:r>
          </a:p>
          <a:p>
            <a:pPr algn="l"/>
            <a:r>
              <a:rPr sz="300" b="0" i="0">
                <a:solidFill>
                  <a:srgbClr val="1A1A2E"/>
                </a:solidFill>
              </a:rPr>
              <a:t/>
            </a:r>
          </a:p>
          <a:p>
            <a:pPr algn="l"/>
            <a:r>
              <a:rPr sz="800" b="0" i="0">
                <a:solidFill>
                  <a:srgbClr val="1A1A2E"/>
                </a:solidFill>
              </a:rPr>
              <a:t>Currently in progress: a Proof of Concept is under way to validate the end-to-end pipeline by deploying Apache Tomcat to Amazon ECS Fargate without any developer access to the AWS Console.</a:t>
            </a:r>
          </a:p>
          <a:p>
            <a:pPr algn="l"/>
            <a:r>
              <a:rPr sz="300" b="0" i="0">
                <a:solidFill>
                  <a:srgbClr val="1A1A2E"/>
                </a:solidFill>
              </a:rPr>
              <a:t/>
            </a:r>
          </a:p>
          <a:p>
            <a:pPr algn="l"/>
            <a:r>
              <a:rPr sz="800" b="0" i="0">
                <a:solidFill>
                  <a:srgbClr val="1A1A2E"/>
                </a:solidFill>
              </a:rPr>
              <a:t>Upcoming milestones include the Newcastle Workshop Show &amp; Tell and the Phase 2 ServiceNow integration.</a:t>
            </a:r>
          </a:p>
        </p:txBody>
      </p:sp>
      <p:sp>
        <p:nvSpPr>
          <p:cNvPr id="17" name="Rectangle 16"/>
          <p:cNvSpPr/>
          <p:nvPr/>
        </p:nvSpPr>
        <p:spPr>
          <a:xfrm>
            <a:off x="8065008" y="996696"/>
            <a:ext cx="3813048" cy="1847088"/>
          </a:xfrm>
          <a:prstGeom prst="rect">
            <a:avLst/>
          </a:prstGeom>
          <a:solidFill>
            <a:srgbClr val="FFFFFF"/>
          </a:solidFill>
          <a:ln w="6350">
            <a:solidFill>
              <a:srgbClr val="CC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65008" y="996696"/>
            <a:ext cx="3813048" cy="260603"/>
          </a:xfrm>
          <a:prstGeom prst="rect">
            <a:avLst/>
          </a:prstGeom>
          <a:solidFill>
            <a:srgbClr val="163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74736" y="1024128"/>
            <a:ext cx="3648456" cy="224027"/>
          </a:xfrm>
          <a:prstGeom prst="rect">
            <a:avLst/>
          </a:prstGeom>
          <a:noFill/>
        </p:spPr>
        <p:txBody>
          <a:bodyPr wrap="square">
            <a:spAutoFit/>
          </a:bodyPr>
          <a:lstStyle/>
          <a:p>
            <a:pPr algn="l"/>
            <a:r>
              <a:rPr sz="900" b="1" i="0">
                <a:solidFill>
                  <a:srgbClr val="FFFFFF"/>
                </a:solidFill>
              </a:rPr>
              <a:t>⚠️   Risks &amp; Issues</a:t>
            </a:r>
          </a:p>
        </p:txBody>
      </p:sp>
      <p:sp>
        <p:nvSpPr>
          <p:cNvPr id="20" name="TextBox 19"/>
          <p:cNvSpPr txBox="1"/>
          <p:nvPr/>
        </p:nvSpPr>
        <p:spPr>
          <a:xfrm>
            <a:off x="8193024" y="1312164"/>
            <a:ext cx="3593591" cy="1495044"/>
          </a:xfrm>
          <a:prstGeom prst="rect">
            <a:avLst/>
          </a:prstGeom>
          <a:noFill/>
        </p:spPr>
        <p:txBody>
          <a:bodyPr wrap="square">
            <a:spAutoFit/>
          </a:bodyPr>
          <a:lstStyle/>
          <a:p>
            <a:pPr algn="l"/>
            <a:r>
              <a:rPr sz="800" b="0" i="0">
                <a:solidFill>
                  <a:srgbClr val="1A1A2E"/>
                </a:solidFill>
              </a:rPr>
              <a:t>Legacy WebLogic applications cannot be containerised directly, because Amazon ECS Fargate does not support the multicast protocol that WebLogic clusters depend upon. These applications must first be migrated to Apache Tomcat.</a:t>
            </a:r>
          </a:p>
          <a:p>
            <a:pPr algn="l"/>
            <a:r>
              <a:rPr sz="300" b="0" i="0">
                <a:solidFill>
                  <a:srgbClr val="1A1A2E"/>
                </a:solidFill>
              </a:rPr>
              <a:t/>
            </a:r>
          </a:p>
          <a:p>
            <a:pPr algn="l"/>
            <a:r>
              <a:rPr sz="800" b="0" i="0">
                <a:solidFill>
                  <a:srgbClr val="1A1A2E"/>
                </a:solidFill>
              </a:rPr>
              <a:t>Applications currently authenticated via OAM or Ping must transition to Microsoft Entra ID before they can be onboarded, as these are not strategic identity providers.</a:t>
            </a:r>
          </a:p>
          <a:p>
            <a:pPr algn="l"/>
            <a:r>
              <a:rPr sz="300" b="0" i="0">
                <a:solidFill>
                  <a:srgbClr val="1A1A2E"/>
                </a:solidFill>
              </a:rPr>
              <a:t/>
            </a:r>
          </a:p>
          <a:p>
            <a:pPr algn="l"/>
            <a:r>
              <a:rPr sz="800" b="0" i="0">
                <a:solidFill>
                  <a:srgbClr val="1A1A2E"/>
                </a:solidFill>
              </a:rPr>
              <a:t>On the infrastructure side, the Terraform modules for the ECS Fargate runtime have not yet been provisioned, which is the primary gap the current POC is addressing.</a:t>
            </a:r>
          </a:p>
          <a:p>
            <a:pPr algn="l"/>
            <a:r>
              <a:rPr sz="300" b="0" i="0">
                <a:solidFill>
                  <a:srgbClr val="1A1A2E"/>
                </a:solidFill>
              </a:rPr>
              <a:t/>
            </a:r>
          </a:p>
          <a:p>
            <a:pPr algn="l"/>
            <a:r>
              <a:rPr sz="800" b="0" i="1">
                <a:solidFill>
                  <a:srgbClr val="3A4A6A"/>
                </a:solidFill>
              </a:rPr>
              <a:t>The FR-04 evidence schema and reporting design remain a Phase 2 item pending stakeholder clarification.</a:t>
            </a:r>
          </a:p>
        </p:txBody>
      </p:sp>
      <p:sp>
        <p:nvSpPr>
          <p:cNvPr id="21" name="Rectangle 20"/>
          <p:cNvSpPr/>
          <p:nvPr/>
        </p:nvSpPr>
        <p:spPr>
          <a:xfrm>
            <a:off x="146304" y="3044952"/>
            <a:ext cx="5742432" cy="1975104"/>
          </a:xfrm>
          <a:prstGeom prst="rect">
            <a:avLst/>
          </a:prstGeom>
          <a:solidFill>
            <a:srgbClr val="FFFFFF"/>
          </a:solidFill>
          <a:ln w="6350">
            <a:solidFill>
              <a:srgbClr val="CC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46304" y="3044952"/>
            <a:ext cx="5742432" cy="260603"/>
          </a:xfrm>
          <a:prstGeom prst="rect">
            <a:avLst/>
          </a:prstGeom>
          <a:solidFill>
            <a:srgbClr val="163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6032" y="3072384"/>
            <a:ext cx="5577840" cy="224027"/>
          </a:xfrm>
          <a:prstGeom prst="rect">
            <a:avLst/>
          </a:prstGeom>
          <a:noFill/>
        </p:spPr>
        <p:txBody>
          <a:bodyPr wrap="square">
            <a:spAutoFit/>
          </a:bodyPr>
          <a:lstStyle/>
          <a:p>
            <a:pPr algn="l"/>
            <a:r>
              <a:rPr sz="900" b="1" i="0">
                <a:solidFill>
                  <a:srgbClr val="FFFFFF"/>
                </a:solidFill>
              </a:rPr>
              <a:t>🔗   Dependencies</a:t>
            </a:r>
          </a:p>
        </p:txBody>
      </p:sp>
      <p:sp>
        <p:nvSpPr>
          <p:cNvPr id="24" name="TextBox 23"/>
          <p:cNvSpPr txBox="1"/>
          <p:nvPr/>
        </p:nvSpPr>
        <p:spPr>
          <a:xfrm>
            <a:off x="274320" y="3360420"/>
            <a:ext cx="5522976" cy="1623060"/>
          </a:xfrm>
          <a:prstGeom prst="rect">
            <a:avLst/>
          </a:prstGeom>
          <a:noFill/>
        </p:spPr>
        <p:txBody>
          <a:bodyPr wrap="square">
            <a:spAutoFit/>
          </a:bodyPr>
          <a:lstStyle/>
          <a:p>
            <a:pPr algn="l"/>
            <a:r>
              <a:rPr sz="800" b="0" i="0">
                <a:solidFill>
                  <a:srgbClr val="1A1A2E"/>
                </a:solidFill>
              </a:rPr>
              <a:t>Successful delivery of the platform depends on a number of items being in place before application teams can onboard.</a:t>
            </a:r>
          </a:p>
          <a:p>
            <a:pPr algn="l"/>
            <a:r>
              <a:rPr sz="300" b="0" i="0">
                <a:solidFill>
                  <a:srgbClr val="1A1A2E"/>
                </a:solidFill>
              </a:rPr>
              <a:t/>
            </a:r>
          </a:p>
          <a:p>
            <a:pPr algn="l"/>
            <a:r>
              <a:rPr sz="800" b="1" i="0">
                <a:solidFill>
                  <a:srgbClr val="1A1A2E"/>
                </a:solidFill>
              </a:rPr>
              <a:t>AWS platform readiness:</a:t>
            </a:r>
          </a:p>
          <a:p>
            <a:pPr algn="l"/>
            <a:r>
              <a:rPr sz="800" b="0" i="0">
                <a:solidFill>
                  <a:srgbClr val="1A1A2E"/>
                </a:solidFill>
              </a:rPr>
              <a:t>Each deployment environment (dev, test, and prod) must have AWS IAM OIDC trust configured so that GitHub Actions can assume the appropriate role without long-lived credentials. Network foundations — VPCs, subnets, and security groups — must be pre-provisioned ahead of the Terraform pipeline runs.</a:t>
            </a:r>
          </a:p>
          <a:p>
            <a:pPr algn="l"/>
            <a:r>
              <a:rPr sz="300" b="0" i="0">
                <a:solidFill>
                  <a:srgbClr val="1A1A2E"/>
                </a:solidFill>
              </a:rPr>
              <a:t/>
            </a:r>
          </a:p>
          <a:p>
            <a:pPr algn="l"/>
            <a:r>
              <a:rPr sz="800" b="1" i="0">
                <a:solidFill>
                  <a:srgbClr val="1A1A2E"/>
                </a:solidFill>
              </a:rPr>
              <a:t>Identity:</a:t>
            </a:r>
          </a:p>
          <a:p>
            <a:pPr algn="l"/>
            <a:r>
              <a:rPr sz="800" b="0" i="0">
                <a:solidFill>
                  <a:srgbClr val="1A1A2E"/>
                </a:solidFill>
              </a:rPr>
              <a:t>Applications that use non-strategic identity providers such as OAM or Ping must complete their migration to Microsoft Entra ID, in coordination with the Identity team, before they can be onboarded to the platform.</a:t>
            </a:r>
          </a:p>
          <a:p>
            <a:pPr algn="l"/>
            <a:r>
              <a:rPr sz="300" b="0" i="0">
                <a:solidFill>
                  <a:srgbClr val="1A1A2E"/>
                </a:solidFill>
              </a:rPr>
              <a:t/>
            </a:r>
          </a:p>
          <a:p>
            <a:pPr algn="l"/>
            <a:r>
              <a:rPr sz="800" b="1" i="0">
                <a:solidFill>
                  <a:srgbClr val="1A1A2E"/>
                </a:solidFill>
              </a:rPr>
              <a:t>Platform tooling:</a:t>
            </a:r>
          </a:p>
          <a:p>
            <a:pPr algn="l"/>
            <a:r>
              <a:rPr sz="800" b="0" i="0">
                <a:solidFill>
                  <a:srgbClr val="1A1A2E"/>
                </a:solidFill>
              </a:rPr>
              <a:t>GitHub Environments with required reviewers, GitHub Advanced Security, an Amazon ECR registry, Datadog, Amazon Inspector, and the Terraform state backend (S3) must all be configured and available.</a:t>
            </a:r>
          </a:p>
        </p:txBody>
      </p:sp>
      <p:sp>
        <p:nvSpPr>
          <p:cNvPr id="25" name="Rectangle 24"/>
          <p:cNvSpPr/>
          <p:nvPr/>
        </p:nvSpPr>
        <p:spPr>
          <a:xfrm>
            <a:off x="6071616" y="3044952"/>
            <a:ext cx="5971032" cy="1975104"/>
          </a:xfrm>
          <a:prstGeom prst="rect">
            <a:avLst/>
          </a:prstGeom>
          <a:solidFill>
            <a:srgbClr val="FFFFFF"/>
          </a:solidFill>
          <a:ln w="6350">
            <a:solidFill>
              <a:srgbClr val="CCD6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71616" y="3044952"/>
            <a:ext cx="5971032" cy="260603"/>
          </a:xfrm>
          <a:prstGeom prst="rect">
            <a:avLst/>
          </a:prstGeom>
          <a:solidFill>
            <a:srgbClr val="163A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81344" y="3072384"/>
            <a:ext cx="5806440" cy="224027"/>
          </a:xfrm>
          <a:prstGeom prst="rect">
            <a:avLst/>
          </a:prstGeom>
          <a:noFill/>
        </p:spPr>
        <p:txBody>
          <a:bodyPr wrap="square">
            <a:spAutoFit/>
          </a:bodyPr>
          <a:lstStyle/>
          <a:p>
            <a:pPr algn="l"/>
            <a:r>
              <a:rPr sz="900" b="1" i="0">
                <a:solidFill>
                  <a:srgbClr val="FFFFFF"/>
                </a:solidFill>
              </a:rPr>
              <a:t>🚀   POC / Show &amp; Tell — Tomcat on Amazon ECS Fargate</a:t>
            </a:r>
          </a:p>
        </p:txBody>
      </p:sp>
      <p:sp>
        <p:nvSpPr>
          <p:cNvPr id="28" name="TextBox 27"/>
          <p:cNvSpPr txBox="1"/>
          <p:nvPr/>
        </p:nvSpPr>
        <p:spPr>
          <a:xfrm>
            <a:off x="6199632" y="3360420"/>
            <a:ext cx="5751576" cy="1623060"/>
          </a:xfrm>
          <a:prstGeom prst="rect">
            <a:avLst/>
          </a:prstGeom>
          <a:noFill/>
        </p:spPr>
        <p:txBody>
          <a:bodyPr wrap="square">
            <a:spAutoFit/>
          </a:bodyPr>
          <a:lstStyle/>
          <a:p>
            <a:pPr algn="l"/>
            <a:r>
              <a:rPr sz="800" b="0" i="0">
                <a:solidFill>
                  <a:srgbClr val="1A1A2E"/>
                </a:solidFill>
              </a:rPr>
              <a:t>The Proof of Concept will demonstrate the core principle of this platform: deployment is a GitHub event, not a manual console activity. A developer pushes code, and everything else — building the image, provisioning infrastructure, deploying the service, and publishing the evidence — is handled entirely by GitHub Actions.</a:t>
            </a:r>
          </a:p>
          <a:p>
            <a:pPr algn="l"/>
            <a:r>
              <a:rPr sz="300" b="0" i="0">
                <a:solidFill>
                  <a:srgbClr val="1A1A2E"/>
                </a:solidFill>
              </a:rPr>
              <a:t/>
            </a:r>
          </a:p>
          <a:p>
            <a:pPr algn="l"/>
            <a:r>
              <a:rPr sz="800" b="1" i="0">
                <a:solidFill>
                  <a:srgbClr val="1A1A2E"/>
                </a:solidFill>
              </a:rPr>
              <a:t>What the demonstration will show:</a:t>
            </a:r>
          </a:p>
          <a:p>
            <a:pPr algn="l"/>
            <a:r>
              <a:rPr sz="800" b="0" i="0">
                <a:solidFill>
                  <a:srgbClr val="1A1A2E"/>
                </a:solidFill>
              </a:rPr>
              <a:t>GitHub Actions will build the Apache Tomcat container image, push it to Amazon ECR with an immutable commit SHA tag, apply the Terraform ECS Fargate stack, update the running service, and execute a smoke test against the Application Load Balancer endpoint — all without the developer logging in to the AWS Console.</a:t>
            </a:r>
          </a:p>
          <a:p>
            <a:pPr algn="l"/>
            <a:r>
              <a:rPr sz="300" b="0" i="0">
                <a:solidFill>
                  <a:srgbClr val="1A1A2E"/>
                </a:solidFill>
              </a:rPr>
              <a:t/>
            </a:r>
          </a:p>
          <a:p>
            <a:pPr algn="l"/>
            <a:r>
              <a:rPr sz="800" b="0" i="0">
                <a:solidFill>
                  <a:srgbClr val="1A1A2E"/>
                </a:solidFill>
              </a:rPr>
              <a:t>The POC is considered successful when the ALB returns the Tomcat application page, the ECS tasks are healthy, and the deployment record is fully traceable back to the originating commit SHA and workflow run.</a:t>
            </a:r>
          </a:p>
        </p:txBody>
      </p:sp>
      <p:sp>
        <p:nvSpPr>
          <p:cNvPr id="29" name="Rectangle 28"/>
          <p:cNvSpPr/>
          <p:nvPr/>
        </p:nvSpPr>
        <p:spPr>
          <a:xfrm>
            <a:off x="0" y="6620256"/>
            <a:ext cx="12188952" cy="237744"/>
          </a:xfrm>
          <a:prstGeom prst="rect">
            <a:avLst/>
          </a:prstGeom>
          <a:solidFill>
            <a:srgbClr val="0C1C4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01168" y="6624828"/>
            <a:ext cx="6400800" cy="201168"/>
          </a:xfrm>
          <a:prstGeom prst="rect">
            <a:avLst/>
          </a:prstGeom>
          <a:noFill/>
        </p:spPr>
        <p:txBody>
          <a:bodyPr wrap="square">
            <a:spAutoFit/>
          </a:bodyPr>
          <a:lstStyle/>
          <a:p>
            <a:pPr algn="l"/>
            <a:r>
              <a:rPr sz="750" b="0" i="0">
                <a:solidFill>
                  <a:srgbClr val="80A0D0"/>
                </a:solidFill>
              </a:rPr>
              <a:t>Confidential  |  Platform Engineering  |  App as Code — Phase 1 Baseline v1.0</a:t>
            </a:r>
          </a:p>
        </p:txBody>
      </p:sp>
      <p:sp>
        <p:nvSpPr>
          <p:cNvPr id="31" name="TextBox 30"/>
          <p:cNvSpPr txBox="1"/>
          <p:nvPr/>
        </p:nvSpPr>
        <p:spPr>
          <a:xfrm>
            <a:off x="6400800" y="6624828"/>
            <a:ext cx="5577840" cy="201168"/>
          </a:xfrm>
          <a:prstGeom prst="rect">
            <a:avLst/>
          </a:prstGeom>
          <a:noFill/>
        </p:spPr>
        <p:txBody>
          <a:bodyPr wrap="square">
            <a:spAutoFit/>
          </a:bodyPr>
          <a:lstStyle/>
          <a:p>
            <a:pPr algn="r"/>
            <a:r>
              <a:rPr sz="750" b="0" i="0">
                <a:solidFill>
                  <a:srgbClr val="80A0D0"/>
                </a:solidFill>
              </a:rPr>
              <a:t>Prepared for: Newcastle Workshop  |  June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